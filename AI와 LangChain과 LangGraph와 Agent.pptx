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4" r:id="rId6"/>
    <p:sldId id="262" r:id="rId7"/>
    <p:sldId id="260" r:id="rId8"/>
    <p:sldId id="261" r:id="rId9"/>
    <p:sldId id="265" r:id="rId10"/>
    <p:sldId id="266" r:id="rId11"/>
    <p:sldId id="270" r:id="rId12"/>
    <p:sldId id="26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1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1FCAC-8B80-CC90-C471-92A6D2A3A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C1B648-108E-3F88-155E-021B55414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CE05B0-7BA0-6B3A-0181-E1839692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8F0323-AE2C-EA3E-5AE6-37130CC3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B0E4CC-0165-B51C-99D8-52FCFFF0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32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81DD6-0448-22F2-A66B-3AB9C736E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2089FE-CD67-0425-FA7B-6F3AFA1D5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F3DB5-860D-48B0-DBF1-923CC863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E81C98-2949-CDEB-4F5C-E521CE40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05E938-E5A2-5B07-0F85-96F544ED1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21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AD8F8-32D5-B14D-83B7-D48A85CD0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E31A7F-A556-A2A3-5EC9-465FCB4A7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A6E25F-7BF3-2A11-F64E-CAA0807E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EB0376-47CE-523B-7E50-8890F879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B24D59-A2D7-0A8B-8F1D-52964F5C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51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176A9-47FB-140E-01B1-972FE03A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A0B34-6801-2065-8D1F-3B97EC79E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1798DA-E025-93B2-EB49-A033572D4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3839EB-6F77-7DC2-DAB8-308B5F79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4E980B-58C4-510F-858E-DB55FB5D8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01C87F-969D-6F84-4BA2-273E27AC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19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9575C-211C-AB45-F159-EDB5268A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129058-1A43-5E10-ED41-CE87C914E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4689A7-7605-336E-AC7A-A58B8A43F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5CDE9C-C230-B242-828B-482FB704A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5F7C47-0332-A8FC-AB1F-D7EB4365D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C21EA72-AADB-A564-E77A-46DBD0BA5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7DC18B-EFEF-A851-76D8-ECB7126D5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704E79-EC0F-CA16-B49F-F40F6802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41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77D60-B94C-9478-472F-874193363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9D1308-CE61-F2E9-67EA-2D3A46347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E22A7C-8C04-4550-9B02-A58725DE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B4C70B-59E1-6CFF-135E-A93A1673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36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1F5C72-2620-43B2-5330-344E24E8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CE7051-A682-DAE6-65E7-04A35B4C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23B48E-0917-D548-A19F-37D08673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27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9B7C7-AE55-315C-7137-D18632B1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1FA3C4-6677-CBEB-6A77-6C9EC53DD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90942-8D56-3CDF-8248-C738F03C0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A1CA6D-5904-652B-23F6-FA675F4F5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739B17-CC6A-9A95-574C-EF00BF42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F5D0DD-2496-871E-A604-3E538C9B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C2BB2-40E5-EA0F-6C19-B428BE155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4EDF2E-E011-6D14-027C-9D09CFF86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8AA4F4-28C1-EE7B-882C-678481CEC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F561F8-D85D-69EE-F5A2-992B9411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2B94D5-234B-6F50-BC35-B9863A1A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6B2699-FD34-2A93-99BF-858C73BE0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49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D92A8-AD5E-AB4E-6474-5C4A4CC8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6C0F2F-2D43-B336-B628-926376BC8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86864C-C37B-5F29-115C-81F0AD21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6F930C-99A2-7549-2DC2-8AAC0B2D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011258-8EDA-F3A7-9B3B-F022F6037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13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F82016-749B-6289-5FE6-C2BC12443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8F3898-E39E-C3D8-5C41-342CA3F93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BBEF7E-9C4F-9434-6AA5-5B7ECCDC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CDDEDF-56AB-3BC1-E5EB-921EB927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1309AC-00D1-0F2C-F950-0BAF8DF4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87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3B3594-4045-9E0A-334B-2DE050D23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69305-6633-D975-4924-460DC7907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0C95EA-2712-FB67-2704-8DA9D9136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C0B5B-113D-4505-9951-3409E16371A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708D1-8E83-E24A-9028-8A6FB22AD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19D814-F56E-BC88-90FA-1E79D4E40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C79E4-CB29-4203-9FE7-EF187F95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32546-ADA4-E982-F4B6-CB9E2FD8AD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와</a:t>
            </a:r>
            <a:br>
              <a:rPr lang="en-US" altLang="ko-KR" dirty="0"/>
            </a:br>
            <a:r>
              <a:rPr lang="en-US" altLang="ko-KR" dirty="0" err="1"/>
              <a:t>LangChain</a:t>
            </a:r>
            <a:r>
              <a:rPr lang="ko-KR" altLang="en-US" dirty="0"/>
              <a:t>과 </a:t>
            </a:r>
            <a:r>
              <a:rPr lang="en-US" altLang="ko-KR" dirty="0"/>
              <a:t>LangGraph</a:t>
            </a:r>
            <a:r>
              <a:rPr lang="ko-KR" altLang="en-US" dirty="0"/>
              <a:t>와</a:t>
            </a:r>
            <a:br>
              <a:rPr lang="en-US" altLang="ko-KR" dirty="0"/>
            </a:br>
            <a:r>
              <a:rPr lang="en-US" altLang="ko-KR" dirty="0"/>
              <a:t>Agent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E2C9BF-48BE-5354-CAED-6838A2486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8759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644C13-5820-9E50-2EF2-DACC815B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를 하려면</a:t>
            </a:r>
            <a:r>
              <a:rPr lang="en-US" altLang="ko-KR" dirty="0"/>
              <a:t>?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A05F69-0F32-1246-B400-50557D1EC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LLM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</a:p>
          <a:p>
            <a:pPr lvl="1"/>
            <a:r>
              <a:rPr lang="en-US" altLang="ko-KR" dirty="0"/>
              <a:t>GPT/Gemini/Local LLM(GPT-OSS-20B)</a:t>
            </a:r>
          </a:p>
          <a:p>
            <a:r>
              <a:rPr lang="en-US" altLang="ko-KR" dirty="0"/>
              <a:t>LLM serving</a:t>
            </a:r>
          </a:p>
          <a:p>
            <a:pPr lvl="1"/>
            <a:r>
              <a:rPr lang="en-US" altLang="ko-KR" dirty="0" err="1"/>
              <a:t>vLLM</a:t>
            </a:r>
            <a:r>
              <a:rPr lang="en-US" altLang="ko-KR" dirty="0"/>
              <a:t>/OLLAMA</a:t>
            </a:r>
          </a:p>
          <a:p>
            <a:r>
              <a:rPr lang="en-US" altLang="ko-KR" dirty="0"/>
              <a:t>Interface</a:t>
            </a:r>
          </a:p>
          <a:p>
            <a:pPr lvl="1"/>
            <a:r>
              <a:rPr lang="en-US" altLang="ko-KR" dirty="0"/>
              <a:t>Chatbot(</a:t>
            </a:r>
            <a:r>
              <a:rPr lang="en-US" altLang="ko-KR" dirty="0" err="1"/>
              <a:t>LangCahin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API</a:t>
            </a:r>
          </a:p>
          <a:p>
            <a:r>
              <a:rPr lang="en-US" altLang="ko-KR" dirty="0"/>
              <a:t>Agent</a:t>
            </a:r>
          </a:p>
          <a:p>
            <a:pPr lvl="1"/>
            <a:r>
              <a:rPr lang="ko-KR" altLang="en-US" dirty="0"/>
              <a:t>**</a:t>
            </a:r>
            <a:r>
              <a:rPr lang="en-US" altLang="ko-KR" dirty="0"/>
              <a:t>"</a:t>
            </a:r>
            <a:r>
              <a:rPr lang="ko-KR" altLang="en-US" dirty="0"/>
              <a:t>목표를 달성하기 위해 스스로 계획을 세우고</a:t>
            </a:r>
            <a:r>
              <a:rPr lang="en-US" altLang="ko-KR" dirty="0"/>
              <a:t>, </a:t>
            </a:r>
            <a:r>
              <a:rPr lang="ko-KR" altLang="en-US" b="1" dirty="0"/>
              <a:t>도구</a:t>
            </a:r>
            <a:r>
              <a:rPr lang="en-US" altLang="ko-KR" b="1" dirty="0"/>
              <a:t>(Tool)</a:t>
            </a:r>
            <a:r>
              <a:rPr lang="ko-KR" altLang="en-US" dirty="0"/>
              <a:t>를 사용하여 </a:t>
            </a:r>
            <a:r>
              <a:rPr lang="ko-KR" altLang="en-US" b="1" dirty="0"/>
              <a:t>행동</a:t>
            </a:r>
            <a:r>
              <a:rPr lang="en-US" altLang="ko-KR" b="1" dirty="0"/>
              <a:t>(Action)</a:t>
            </a:r>
            <a:r>
              <a:rPr lang="ko-KR" altLang="en-US" dirty="0"/>
              <a:t>하며</a:t>
            </a:r>
            <a:r>
              <a:rPr lang="en-US" altLang="ko-KR" dirty="0"/>
              <a:t>, </a:t>
            </a:r>
            <a:r>
              <a:rPr lang="ko-KR" altLang="en-US" dirty="0"/>
              <a:t>결과를 관찰하여 수정하는 시스템</a:t>
            </a:r>
            <a:r>
              <a:rPr lang="en-US" altLang="ko-KR" dirty="0"/>
              <a:t>"**	</a:t>
            </a:r>
          </a:p>
        </p:txBody>
      </p:sp>
    </p:spTree>
    <p:extLst>
      <p:ext uri="{BB962C8B-B14F-4D97-AF65-F5344CB8AC3E}">
        <p14:creationId xmlns:p14="http://schemas.microsoft.com/office/powerpoint/2010/main" val="257959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49E23-E799-51E8-B669-ECD7DEA6D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에이전트의 연도별 진화 </a:t>
            </a:r>
            <a:r>
              <a:rPr lang="en-US" altLang="ko-KR" dirty="0"/>
              <a:t>(GPT-3 </a:t>
            </a:r>
            <a:r>
              <a:rPr lang="ko-KR" altLang="en-US" dirty="0"/>
              <a:t>이후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A408189-6406-40B1-303E-16A5E59DE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83522"/>
              </p:ext>
            </p:extLst>
          </p:nvPr>
        </p:nvGraphicFramePr>
        <p:xfrm>
          <a:off x="775855" y="1957056"/>
          <a:ext cx="10515600" cy="2575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299290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314205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932102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696741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구분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2023 (</a:t>
                      </a: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초기</a:t>
                      </a: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2024 (</a:t>
                      </a: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과도기</a:t>
                      </a: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2025 </a:t>
                      </a: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이후</a:t>
                      </a: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현재</a:t>
                      </a: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72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핵심 역할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텍스트 생성 및 대화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자율적인 문제 해결 시도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정교한 워크플로우 수행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396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주요 기술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프롬프트 엔지니어링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ReAct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Function Calling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LangGraph, Multi-Agent, Tool Use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34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구조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단일 모델 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Single LLM)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무한 루프 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While Loop)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그래프 기반 상태 관리 </a:t>
                      </a: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(State Machine)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943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개발자 과제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어떻게 답하게 할까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?"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어떻게 멈추게 할까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?"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</a:t>
                      </a: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어떻게 제어하고 연결할까</a:t>
                      </a: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?"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9753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036549-6847-60F8-0B38-CB780A9CF7AA}"/>
              </a:ext>
            </a:extLst>
          </p:cNvPr>
          <p:cNvSpPr txBox="1"/>
          <p:nvPr/>
        </p:nvSpPr>
        <p:spPr>
          <a:xfrm>
            <a:off x="775855" y="4532616"/>
            <a:ext cx="60612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2025</a:t>
            </a:r>
            <a:r>
              <a:rPr lang="ko-KR" altLang="en-US" sz="800" b="1" dirty="0"/>
              <a:t>년</a:t>
            </a:r>
            <a:r>
              <a:rPr lang="en-US" altLang="ko-KR" sz="800" b="1" dirty="0"/>
              <a:t>: "</a:t>
            </a:r>
            <a:r>
              <a:rPr lang="ko-KR" altLang="en-US" sz="800" b="1" dirty="0"/>
              <a:t>시스템화와 워크플로우</a:t>
            </a:r>
            <a:r>
              <a:rPr lang="en-US" altLang="ko-KR" sz="800" b="1" dirty="0"/>
              <a:t>" (The Orchestrated Worker)</a:t>
            </a:r>
          </a:p>
          <a:p>
            <a:r>
              <a:rPr lang="ko-KR" altLang="en-US" sz="800" b="1" dirty="0"/>
              <a:t>핵심</a:t>
            </a:r>
            <a:r>
              <a:rPr lang="en-US" altLang="ko-KR" sz="800" b="1" dirty="0"/>
              <a:t>:</a:t>
            </a:r>
            <a:r>
              <a:rPr lang="ko-KR" altLang="en-US" sz="800" dirty="0"/>
              <a:t> </a:t>
            </a:r>
            <a:r>
              <a:rPr lang="en-US" altLang="ko-KR" sz="800" b="1" dirty="0"/>
              <a:t>LangGraph</a:t>
            </a:r>
            <a:r>
              <a:rPr lang="en-US" altLang="ko-KR" sz="800" dirty="0"/>
              <a:t>, </a:t>
            </a:r>
            <a:r>
              <a:rPr lang="en-US" altLang="ko-KR" sz="800" dirty="0" err="1"/>
              <a:t>CrewAI</a:t>
            </a:r>
            <a:r>
              <a:rPr lang="en-US" altLang="ko-KR" sz="800" dirty="0"/>
              <a:t> </a:t>
            </a:r>
            <a:r>
              <a:rPr lang="ko-KR" altLang="en-US" sz="800" dirty="0"/>
              <a:t>등 멀티 에이전트 프레임워크의 부상</a:t>
            </a:r>
            <a:r>
              <a:rPr lang="en-US" altLang="ko-KR" sz="800" dirty="0"/>
              <a:t>. </a:t>
            </a:r>
            <a:r>
              <a:rPr lang="ko-KR" altLang="en-US" sz="800" dirty="0"/>
              <a:t>앤드류 응 교수의 </a:t>
            </a:r>
            <a:r>
              <a:rPr lang="en-US" altLang="ko-KR" sz="800" b="1" dirty="0"/>
              <a:t>"Agentic Workflow"</a:t>
            </a:r>
            <a:r>
              <a:rPr lang="ko-KR" altLang="en-US" sz="800" dirty="0"/>
              <a:t> 강조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정의의 이동</a:t>
            </a:r>
            <a:r>
              <a:rPr lang="en-US" altLang="ko-KR" sz="800" b="1" dirty="0"/>
              <a:t>:</a:t>
            </a:r>
            <a:r>
              <a:rPr lang="ko-KR" altLang="en-US" sz="800" dirty="0"/>
              <a:t> </a:t>
            </a:r>
            <a:r>
              <a:rPr lang="en-US" altLang="ko-KR" sz="800" dirty="0"/>
              <a:t>"</a:t>
            </a:r>
            <a:r>
              <a:rPr lang="ko-KR" altLang="en-US" sz="800" dirty="0"/>
              <a:t>알아서 다 하는 천재 모델</a:t>
            </a:r>
            <a:r>
              <a:rPr lang="en-US" altLang="ko-KR" sz="800" dirty="0"/>
              <a:t>"</a:t>
            </a:r>
            <a:r>
              <a:rPr lang="ko-KR" altLang="en-US" sz="800" dirty="0"/>
              <a:t>에서 **</a:t>
            </a:r>
            <a:r>
              <a:rPr lang="en-US" altLang="ko-KR" sz="800" dirty="0"/>
              <a:t>"</a:t>
            </a:r>
            <a:r>
              <a:rPr lang="ko-KR" altLang="en-US" sz="800" dirty="0"/>
              <a:t>잘 정의된 프로세스를 따르는 도구 사용 전문가</a:t>
            </a:r>
            <a:r>
              <a:rPr lang="en-US" altLang="ko-KR" sz="800" dirty="0"/>
              <a:t>"**</a:t>
            </a:r>
            <a:r>
              <a:rPr lang="ko-KR" altLang="en-US" sz="800" dirty="0"/>
              <a:t>로 정의가 구체화되었습니다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특징</a:t>
            </a:r>
            <a:r>
              <a:rPr lang="en-US" altLang="ko-KR" sz="800" b="1" dirty="0"/>
              <a:t>:</a:t>
            </a:r>
          </a:p>
          <a:p>
            <a:r>
              <a:rPr lang="ko-KR" altLang="en-US" sz="800" b="1" dirty="0"/>
              <a:t>멀티 에이전트</a:t>
            </a:r>
            <a:r>
              <a:rPr lang="en-US" altLang="ko-KR" sz="800" b="1" dirty="0"/>
              <a:t>:</a:t>
            </a:r>
            <a:r>
              <a:rPr lang="ko-KR" altLang="en-US" sz="800" dirty="0"/>
              <a:t> 기획자</a:t>
            </a:r>
            <a:r>
              <a:rPr lang="en-US" altLang="ko-KR" sz="800" dirty="0"/>
              <a:t>, </a:t>
            </a:r>
            <a:r>
              <a:rPr lang="ko-KR" altLang="en-US" sz="800" dirty="0"/>
              <a:t>개발자</a:t>
            </a:r>
            <a:r>
              <a:rPr lang="en-US" altLang="ko-KR" sz="800" dirty="0"/>
              <a:t>, </a:t>
            </a:r>
            <a:r>
              <a:rPr lang="ko-KR" altLang="en-US" sz="800" dirty="0"/>
              <a:t>테스터 역할을 하는 에이전트들이 협업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신뢰성</a:t>
            </a:r>
            <a:r>
              <a:rPr lang="en-US" altLang="ko-KR" sz="800" b="1" dirty="0"/>
              <a:t>(Reliability):</a:t>
            </a:r>
            <a:r>
              <a:rPr lang="ko-KR" altLang="en-US" sz="800" dirty="0"/>
              <a:t> 자율성을 일부 제한하고</a:t>
            </a:r>
            <a:r>
              <a:rPr lang="en-US" altLang="ko-KR" sz="800" dirty="0"/>
              <a:t>, </a:t>
            </a:r>
            <a:r>
              <a:rPr lang="ko-KR" altLang="en-US" sz="800" dirty="0"/>
              <a:t>결정론적</a:t>
            </a:r>
            <a:r>
              <a:rPr lang="en-US" altLang="ko-KR" sz="800" dirty="0"/>
              <a:t>(Deterministic)</a:t>
            </a:r>
            <a:r>
              <a:rPr lang="ko-KR" altLang="en-US" sz="800" dirty="0"/>
              <a:t>인 코드로 제어 가능한 에이전트를 선호하기 시작했습니다</a:t>
            </a:r>
            <a:r>
              <a:rPr lang="en-US" altLang="ko-KR" sz="800" dirty="0"/>
              <a:t>.</a:t>
            </a:r>
          </a:p>
          <a:p>
            <a:pPr algn="dist"/>
            <a:r>
              <a:rPr lang="en-US" altLang="ko-KR" sz="800" b="1" dirty="0"/>
              <a:t>RAG </a:t>
            </a:r>
            <a:r>
              <a:rPr lang="ko-KR" altLang="en-US" sz="800" b="1" dirty="0"/>
              <a:t>결합</a:t>
            </a:r>
            <a:r>
              <a:rPr lang="en-US" altLang="ko-KR" sz="800" b="1" dirty="0"/>
              <a:t>:</a:t>
            </a:r>
            <a:r>
              <a:rPr lang="ko-KR" altLang="en-US" sz="800" dirty="0"/>
              <a:t> 단순 검색을 넘어 외부 지식 베이스를 능동적으로 조회하고 검증하는 형태로 발전했습니다</a:t>
            </a:r>
            <a:r>
              <a:rPr lang="en-US" altLang="ko-KR" sz="800" dirty="0"/>
              <a:t>.</a:t>
            </a:r>
          </a:p>
          <a:p>
            <a:endParaRPr lang="ko-KR" altLang="en-US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4E3A5-696C-110B-C97D-0E9B1A421834}"/>
              </a:ext>
            </a:extLst>
          </p:cNvPr>
          <p:cNvSpPr txBox="1"/>
          <p:nvPr/>
        </p:nvSpPr>
        <p:spPr>
          <a:xfrm>
            <a:off x="775855" y="5609834"/>
            <a:ext cx="60953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800" b="1" dirty="0"/>
              <a:t>2026</a:t>
            </a:r>
            <a:r>
              <a:rPr lang="ko-KR" altLang="en-US" sz="800" b="1" dirty="0"/>
              <a:t>년</a:t>
            </a:r>
            <a:r>
              <a:rPr lang="en-US" altLang="ko-KR" sz="800" b="1" dirty="0"/>
              <a:t>: "</a:t>
            </a:r>
            <a:r>
              <a:rPr lang="ko-KR" altLang="en-US" sz="800" b="1" dirty="0"/>
              <a:t>행동하는 운영자</a:t>
            </a:r>
            <a:r>
              <a:rPr lang="en-US" altLang="ko-KR" sz="800" b="1" dirty="0"/>
              <a:t>" (The Native Operator)</a:t>
            </a:r>
          </a:p>
          <a:p>
            <a:r>
              <a:rPr lang="ko-KR" altLang="en-US" sz="800" b="1" dirty="0"/>
              <a:t>핵심</a:t>
            </a:r>
            <a:r>
              <a:rPr lang="en-US" altLang="ko-KR" sz="800" b="1" dirty="0"/>
              <a:t>:</a:t>
            </a:r>
            <a:r>
              <a:rPr lang="ko-KR" altLang="en-US" sz="800" dirty="0"/>
              <a:t> </a:t>
            </a:r>
            <a:r>
              <a:rPr lang="en-US" altLang="ko-KR" sz="800" b="1" dirty="0"/>
              <a:t>Computer Use</a:t>
            </a:r>
            <a:r>
              <a:rPr lang="ko-KR" altLang="en-US" sz="800" dirty="0"/>
              <a:t> </a:t>
            </a:r>
            <a:r>
              <a:rPr lang="en-US" altLang="ko-KR" sz="800" dirty="0"/>
              <a:t>(Claude </a:t>
            </a:r>
            <a:r>
              <a:rPr lang="ko-KR" altLang="en-US" sz="800" dirty="0"/>
              <a:t>등</a:t>
            </a:r>
            <a:r>
              <a:rPr lang="en-US" altLang="ko-KR" sz="800" dirty="0"/>
              <a:t>), On-device Agent, </a:t>
            </a:r>
            <a:r>
              <a:rPr lang="ko-KR" altLang="en-US" sz="800" dirty="0"/>
              <a:t>경량화 모델</a:t>
            </a:r>
            <a:r>
              <a:rPr lang="en-US" altLang="ko-KR" sz="800" dirty="0"/>
              <a:t>(SLM)</a:t>
            </a:r>
            <a:r>
              <a:rPr lang="ko-KR" altLang="en-US" sz="800" dirty="0"/>
              <a:t>의 에이전트화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미래 방향</a:t>
            </a:r>
            <a:r>
              <a:rPr lang="en-US" altLang="ko-KR" sz="800" b="1" dirty="0"/>
              <a:t>:</a:t>
            </a:r>
            <a:r>
              <a:rPr lang="ko-KR" altLang="en-US" sz="800" dirty="0"/>
              <a:t> </a:t>
            </a:r>
            <a:r>
              <a:rPr lang="en-US" altLang="ko-KR" sz="800" dirty="0"/>
              <a:t>API </a:t>
            </a:r>
            <a:r>
              <a:rPr lang="ko-KR" altLang="en-US" sz="800" dirty="0"/>
              <a:t>호출을 넘어</a:t>
            </a:r>
            <a:r>
              <a:rPr lang="en-US" altLang="ko-KR" sz="800" dirty="0"/>
              <a:t>, </a:t>
            </a:r>
            <a:r>
              <a:rPr lang="ko-KR" altLang="en-US" sz="800" b="1" dirty="0"/>
              <a:t>사람처럼 </a:t>
            </a:r>
            <a:r>
              <a:rPr lang="en-US" altLang="ko-KR" sz="800" b="1" dirty="0"/>
              <a:t>GUI(</a:t>
            </a:r>
            <a:r>
              <a:rPr lang="ko-KR" altLang="en-US" sz="800" b="1" dirty="0"/>
              <a:t>화면</a:t>
            </a:r>
            <a:r>
              <a:rPr lang="en-US" altLang="ko-KR" sz="800" b="1" dirty="0"/>
              <a:t>)</a:t>
            </a:r>
            <a:r>
              <a:rPr lang="ko-KR" altLang="en-US" sz="800" b="1" dirty="0"/>
              <a:t>를 보고 마우스를 클릭하며 소프트웨어를 조작</a:t>
            </a:r>
            <a:r>
              <a:rPr lang="ko-KR" altLang="en-US" sz="800" dirty="0"/>
              <a:t>하는 단계로 진입하고 있습니다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개발 트렌드</a:t>
            </a:r>
            <a:r>
              <a:rPr lang="en-US" altLang="ko-KR" sz="800" b="1" dirty="0"/>
              <a:t>:</a:t>
            </a:r>
            <a:endParaRPr lang="en-US" altLang="ko-KR" sz="800" dirty="0"/>
          </a:p>
          <a:p>
            <a:r>
              <a:rPr lang="ko-KR" altLang="en-US" sz="800" b="1" dirty="0"/>
              <a:t>비동기 처리</a:t>
            </a:r>
            <a:r>
              <a:rPr lang="en-US" altLang="ko-KR" sz="800" b="1" dirty="0"/>
              <a:t>:</a:t>
            </a:r>
            <a:r>
              <a:rPr lang="ko-KR" altLang="en-US" sz="800" dirty="0"/>
              <a:t> </a:t>
            </a:r>
            <a:r>
              <a:rPr lang="en-US" altLang="ko-KR" sz="800" dirty="0"/>
              <a:t>n8n </a:t>
            </a:r>
            <a:r>
              <a:rPr lang="ko-KR" altLang="en-US" sz="800" dirty="0"/>
              <a:t>같은 자동화 툴과 </a:t>
            </a:r>
            <a:r>
              <a:rPr lang="en-US" altLang="ko-KR" sz="800" dirty="0"/>
              <a:t>LLM </a:t>
            </a:r>
            <a:r>
              <a:rPr lang="ko-KR" altLang="en-US" sz="800" dirty="0"/>
              <a:t>에이전트가 결합하여 백그라운드에서 업무를 수행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로컬 에이전트</a:t>
            </a:r>
            <a:r>
              <a:rPr lang="en-US" altLang="ko-KR" sz="800" b="1" dirty="0"/>
              <a:t>:</a:t>
            </a:r>
            <a:r>
              <a:rPr lang="ko-KR" altLang="en-US" sz="800" dirty="0"/>
              <a:t> 보안과 비용 문제로 인해 로컬 </a:t>
            </a:r>
            <a:r>
              <a:rPr lang="en-US" altLang="ko-KR" sz="800" dirty="0"/>
              <a:t>LLM(Gemma, Llama </a:t>
            </a:r>
            <a:r>
              <a:rPr lang="ko-KR" altLang="en-US" sz="800" dirty="0"/>
              <a:t>등</a:t>
            </a:r>
            <a:r>
              <a:rPr lang="en-US" altLang="ko-KR" sz="800" dirty="0"/>
              <a:t>) </a:t>
            </a:r>
            <a:r>
              <a:rPr lang="ko-KR" altLang="en-US" sz="800" dirty="0"/>
              <a:t>기반의 전용 에이전트 구축이 활발해지고 있습니다</a:t>
            </a:r>
            <a:r>
              <a:rPr lang="en-US" altLang="ko-KR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9677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8E1FE-A11A-B786-F0FF-09CECC78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LangChain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2F2E6-91C4-0A7F-C30D-7AD55A009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 err="1"/>
              <a:t>LangChain</a:t>
            </a:r>
            <a:r>
              <a:rPr lang="ko-KR" altLang="en-US" sz="2000" b="1" dirty="0"/>
              <a:t>이란</a:t>
            </a:r>
            <a:r>
              <a:rPr lang="en-US" altLang="ko-KR" sz="2000" b="1" dirty="0"/>
              <a:t>?</a:t>
            </a:r>
          </a:p>
          <a:p>
            <a:pPr marL="457200" lvl="1" indent="0">
              <a:buNone/>
            </a:pPr>
            <a:r>
              <a:rPr lang="en-US" altLang="ko-KR" sz="1800" b="1" dirty="0" err="1"/>
              <a:t>LangChain</a:t>
            </a:r>
            <a:r>
              <a:rPr lang="ko-KR" altLang="en-US" sz="1800" dirty="0"/>
              <a:t>은 대규모 언어 모델</a:t>
            </a:r>
            <a:r>
              <a:rPr lang="en-US" altLang="ko-KR" sz="1800" dirty="0"/>
              <a:t>(LLM)</a:t>
            </a:r>
            <a:r>
              <a:rPr lang="ko-KR" altLang="en-US" sz="1800" dirty="0"/>
              <a:t>을 활용한 애플리케이션을 쉽게 개발할 수 있도록 도와주는 </a:t>
            </a:r>
            <a:r>
              <a:rPr lang="ko-KR" altLang="en-US" sz="1800" b="1" dirty="0"/>
              <a:t>오픈소스 프레임워크</a:t>
            </a:r>
            <a:r>
              <a:rPr lang="ko-KR" altLang="en-US" sz="1800" dirty="0"/>
              <a:t>입니다</a:t>
            </a:r>
            <a:r>
              <a:rPr lang="en-US" altLang="ko-KR" sz="1800" dirty="0"/>
              <a:t>.</a:t>
            </a:r>
          </a:p>
          <a:p>
            <a:r>
              <a:rPr lang="ko-KR" altLang="en-US" sz="2000" b="1" dirty="0"/>
              <a:t>왜 </a:t>
            </a:r>
            <a:r>
              <a:rPr lang="en-US" altLang="ko-KR" sz="2000" b="1" dirty="0" err="1"/>
              <a:t>LangChain</a:t>
            </a:r>
            <a:r>
              <a:rPr lang="ko-KR" altLang="en-US" sz="2000" b="1" dirty="0"/>
              <a:t>이 필요한가요</a:t>
            </a:r>
            <a:r>
              <a:rPr lang="en-US" altLang="ko-KR" sz="2000" b="1" dirty="0"/>
              <a:t>?</a:t>
            </a:r>
          </a:p>
          <a:p>
            <a:pPr marL="457200" lvl="1" indent="0">
              <a:buNone/>
            </a:pPr>
            <a:r>
              <a:rPr lang="en-US" altLang="ko-KR" sz="1800" dirty="0"/>
              <a:t>LLM</a:t>
            </a:r>
            <a:r>
              <a:rPr lang="ko-KR" altLang="en-US" sz="1800" dirty="0"/>
              <a:t>을 직접 사용하면 다음과 같은 어려움이 있습니다</a:t>
            </a:r>
            <a:r>
              <a:rPr lang="en-US" altLang="ko-KR" sz="1800" dirty="0"/>
              <a:t>:</a:t>
            </a:r>
          </a:p>
          <a:p>
            <a:pPr marL="457200" lvl="1" indent="0">
              <a:buNone/>
            </a:pPr>
            <a:r>
              <a:rPr lang="ko-KR" altLang="en-US" sz="1800" dirty="0"/>
              <a:t>🔧 </a:t>
            </a:r>
            <a:r>
              <a:rPr lang="ko-KR" altLang="en-US" sz="1800" b="1" dirty="0"/>
              <a:t>복잡한 통합</a:t>
            </a:r>
            <a:r>
              <a:rPr lang="en-US" altLang="ko-KR" sz="1800" dirty="0"/>
              <a:t>: </a:t>
            </a:r>
            <a:r>
              <a:rPr lang="ko-KR" altLang="en-US" sz="1800" dirty="0"/>
              <a:t>다양한 </a:t>
            </a:r>
            <a:r>
              <a:rPr lang="en-US" altLang="ko-KR" sz="1800" dirty="0"/>
              <a:t>LLM </a:t>
            </a:r>
            <a:r>
              <a:rPr lang="ko-KR" altLang="en-US" sz="1800" dirty="0"/>
              <a:t>제공자</a:t>
            </a:r>
            <a:r>
              <a:rPr lang="en-US" altLang="ko-KR" sz="1800" dirty="0"/>
              <a:t>(OpenAI, Anthropic, </a:t>
            </a:r>
            <a:r>
              <a:rPr lang="en-US" altLang="ko-KR" sz="1800" dirty="0" err="1"/>
              <a:t>Ollama</a:t>
            </a:r>
            <a:r>
              <a:rPr lang="en-US" altLang="ko-KR" sz="1800" dirty="0"/>
              <a:t> </a:t>
            </a:r>
            <a:r>
              <a:rPr lang="ko-KR" altLang="en-US" sz="1800" dirty="0"/>
              <a:t>등</a:t>
            </a:r>
            <a:r>
              <a:rPr lang="en-US" altLang="ko-KR" sz="1800" dirty="0"/>
              <a:t>)</a:t>
            </a:r>
            <a:r>
              <a:rPr lang="ko-KR" altLang="en-US" sz="1800" dirty="0"/>
              <a:t>마다 </a:t>
            </a:r>
            <a:r>
              <a:rPr lang="en-US" altLang="ko-KR" sz="1800" dirty="0"/>
              <a:t>API</a:t>
            </a:r>
            <a:r>
              <a:rPr lang="ko-KR" altLang="en-US" sz="1800" dirty="0"/>
              <a:t>가 다름</a:t>
            </a:r>
          </a:p>
          <a:p>
            <a:pPr marL="457200" lvl="1" indent="0">
              <a:buNone/>
            </a:pPr>
            <a:r>
              <a:rPr lang="ko-KR" altLang="en-US" sz="1800" dirty="0"/>
              <a:t>📝 </a:t>
            </a:r>
            <a:r>
              <a:rPr lang="ko-KR" altLang="en-US" sz="1800" b="1" dirty="0"/>
              <a:t>프롬프트 관리</a:t>
            </a:r>
            <a:r>
              <a:rPr lang="en-US" altLang="ko-KR" sz="1800" dirty="0"/>
              <a:t>: </a:t>
            </a:r>
            <a:r>
              <a:rPr lang="ko-KR" altLang="en-US" sz="1800" dirty="0"/>
              <a:t>효과적인 프롬프트 작성과 재사용이 어려움</a:t>
            </a:r>
          </a:p>
          <a:p>
            <a:pPr marL="457200" lvl="1" indent="0">
              <a:buNone/>
            </a:pPr>
            <a:r>
              <a:rPr lang="ko-KR" altLang="en-US" sz="1800" dirty="0"/>
              <a:t>🔗 </a:t>
            </a:r>
            <a:r>
              <a:rPr lang="ko-KR" altLang="en-US" sz="1800" b="1" dirty="0"/>
              <a:t>워크플로우 구성</a:t>
            </a:r>
            <a:r>
              <a:rPr lang="en-US" altLang="ko-KR" sz="1800" dirty="0"/>
              <a:t>: </a:t>
            </a:r>
            <a:r>
              <a:rPr lang="ko-KR" altLang="en-US" sz="1800" dirty="0"/>
              <a:t>여러 단계를 연결하는 파이프라인 구축이 복잡함</a:t>
            </a:r>
          </a:p>
          <a:p>
            <a:pPr marL="457200" lvl="1" indent="0">
              <a:buNone/>
            </a:pPr>
            <a:r>
              <a:rPr lang="ko-KR" altLang="en-US" sz="1800" dirty="0"/>
              <a:t>🛠️ </a:t>
            </a:r>
            <a:r>
              <a:rPr lang="ko-KR" altLang="en-US" sz="1800" b="1" dirty="0"/>
              <a:t>도구 연동</a:t>
            </a:r>
            <a:r>
              <a:rPr lang="en-US" altLang="ko-KR" sz="1800" dirty="0"/>
              <a:t>: </a:t>
            </a:r>
            <a:r>
              <a:rPr lang="ko-KR" altLang="en-US" sz="1800" dirty="0"/>
              <a:t>외부 </a:t>
            </a:r>
            <a:r>
              <a:rPr lang="en-US" altLang="ko-KR" sz="1800" dirty="0"/>
              <a:t>API, </a:t>
            </a:r>
            <a:r>
              <a:rPr lang="ko-KR" altLang="en-US" sz="1800" dirty="0"/>
              <a:t>데이터베이스 등과의 통합이 번거로움</a:t>
            </a:r>
          </a:p>
          <a:p>
            <a:pPr marL="457200" lvl="1" indent="0">
              <a:buNone/>
            </a:pPr>
            <a:r>
              <a:rPr lang="en-US" altLang="ko-KR" sz="1800" dirty="0" err="1"/>
              <a:t>LangChain</a:t>
            </a:r>
            <a:r>
              <a:rPr lang="ko-KR" altLang="en-US" sz="1800" dirty="0"/>
              <a:t>은 이러한 문제들을 해결하는 </a:t>
            </a:r>
            <a:r>
              <a:rPr lang="ko-KR" altLang="en-US" sz="1800" b="1" dirty="0"/>
              <a:t>통합 인터페이스</a:t>
            </a:r>
            <a:r>
              <a:rPr lang="ko-KR" altLang="en-US" sz="1800" dirty="0"/>
              <a:t>를 제공합니다</a:t>
            </a:r>
            <a:r>
              <a:rPr lang="en-US" altLang="ko-KR" sz="1800" dirty="0"/>
              <a:t>.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254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ABAB1-5B8E-24CD-AD3C-262E709C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핵심 컴포넌트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D75002-8CF0-EA50-8749-A1DAED553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8474" cy="4351338"/>
          </a:xfrm>
        </p:spPr>
        <p:txBody>
          <a:bodyPr/>
          <a:lstStyle/>
          <a:p>
            <a:r>
              <a:rPr lang="en-US" altLang="ko-KR" sz="1400" dirty="0"/>
              <a:t>Chat Models (</a:t>
            </a:r>
            <a:r>
              <a:rPr lang="ko-KR" altLang="en-US" sz="1400" dirty="0"/>
              <a:t>채팅 모델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Prompts &amp; Prompt Templates (</a:t>
            </a:r>
            <a:r>
              <a:rPr lang="ko-KR" altLang="en-US" sz="1400" dirty="0"/>
              <a:t>프롬프트 템플릿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998D99-8C39-2F01-9328-996278BAD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700" y="2109973"/>
            <a:ext cx="2639711" cy="14514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A4AF940-1672-28A5-FFED-BF22F661D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00" y="4099782"/>
            <a:ext cx="3265716" cy="2413790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F86073B-4243-380E-208B-9BB8558960FA}"/>
              </a:ext>
            </a:extLst>
          </p:cNvPr>
          <p:cNvSpPr txBox="1">
            <a:spLocks/>
          </p:cNvSpPr>
          <p:nvPr/>
        </p:nvSpPr>
        <p:spPr>
          <a:xfrm>
            <a:off x="5103635" y="1825625"/>
            <a:ext cx="28602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/>
              <a:t>Tools (</a:t>
            </a:r>
            <a:r>
              <a:rPr lang="ko-KR" altLang="en-US" sz="1600" dirty="0"/>
              <a:t>도구</a:t>
            </a:r>
            <a:r>
              <a:rPr lang="en-US" altLang="ko-KR" sz="1600" dirty="0"/>
              <a:t>)</a:t>
            </a:r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3CD4752-95CB-9707-2727-C000789D4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126" y="2196559"/>
            <a:ext cx="2957374" cy="374028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09D0E1C-0C7A-6A2F-605F-F0AB4A0F7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1057" y="2221982"/>
            <a:ext cx="3116957" cy="1571288"/>
          </a:xfrm>
          <a:prstGeom prst="rect">
            <a:avLst/>
          </a:prstGeom>
        </p:spPr>
      </p:pic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30256C03-2ED6-55B5-3F50-92960AA7F01A}"/>
              </a:ext>
            </a:extLst>
          </p:cNvPr>
          <p:cNvSpPr txBox="1">
            <a:spLocks/>
          </p:cNvSpPr>
          <p:nvPr/>
        </p:nvSpPr>
        <p:spPr>
          <a:xfrm>
            <a:off x="8549527" y="1825625"/>
            <a:ext cx="49710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/>
              <a:t>LCEL</a:t>
            </a:r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888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5A60C-D595-C18D-D2E6-9418F321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초기 </a:t>
            </a:r>
            <a:r>
              <a:rPr lang="en-US" altLang="ko-KR" dirty="0" err="1"/>
              <a:t>Langchain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CBA3AA-7938-9FF1-E809-B04A817AE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8872"/>
            <a:ext cx="4553629" cy="3187810"/>
          </a:xfrm>
          <a:prstGeom prst="rect">
            <a:avLst/>
          </a:prstGeo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4924CD43-2D2A-6825-2163-E5F4F8A06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986" y="1568872"/>
            <a:ext cx="4103286" cy="26614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F4EB0B1-C7BA-57ED-F5A5-D3E2F7C7D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387" y="4323113"/>
            <a:ext cx="5062485" cy="243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07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ED58-6BB1-8232-C6BB-B8CF01C60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이제 </a:t>
            </a:r>
            <a:r>
              <a:rPr lang="en-US" altLang="ko-KR" dirty="0" err="1"/>
              <a:t>LangChain</a:t>
            </a:r>
            <a:r>
              <a:rPr lang="en-US" altLang="ko-KR" dirty="0"/>
              <a:t>, Langgraph?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F12BB7E-C44B-7023-51AF-FA86B03C8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LangChain</a:t>
            </a:r>
            <a:r>
              <a:rPr lang="en-US" altLang="ko-KR" dirty="0"/>
              <a:t> Tool</a:t>
            </a:r>
            <a:r>
              <a:rPr lang="ko-KR" altLang="en-US" dirty="0"/>
              <a:t> </a:t>
            </a:r>
            <a:r>
              <a:rPr lang="en-US" altLang="ko-KR" dirty="0"/>
              <a:t>Calling</a:t>
            </a:r>
            <a:r>
              <a:rPr lang="ko-KR" altLang="en-US" dirty="0"/>
              <a:t> </a:t>
            </a:r>
            <a:r>
              <a:rPr lang="en-US" altLang="ko-KR" dirty="0"/>
              <a:t>history</a:t>
            </a:r>
            <a:endParaRPr lang="ko-KR" altLang="en-US" dirty="0"/>
          </a:p>
        </p:txBody>
      </p:sp>
      <p:graphicFrame>
        <p:nvGraphicFramePr>
          <p:cNvPr id="8" name="내용 개체 틀 5">
            <a:extLst>
              <a:ext uri="{FF2B5EF4-FFF2-40B4-BE49-F238E27FC236}">
                <a16:creationId xmlns:a16="http://schemas.microsoft.com/office/drawing/2014/main" id="{ABF3D5D3-ABDF-AB21-E469-5450C90B47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6381398"/>
              </p:ext>
            </p:extLst>
          </p:nvPr>
        </p:nvGraphicFramePr>
        <p:xfrm>
          <a:off x="910271" y="2406612"/>
          <a:ext cx="10515600" cy="139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681771554"/>
                    </a:ext>
                  </a:extLst>
                </a:gridCol>
              </a:tblGrid>
              <a:tr h="214456"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태동기</a:t>
                      </a: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OpenAI Function Calling </a:t>
                      </a:r>
                      <a:r>
                        <a:rPr lang="ko-KR" alt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지원 </a:t>
                      </a: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(2023.06.14)</a:t>
                      </a:r>
                    </a:p>
                  </a:txBody>
                  <a:tcPr marL="4200" marR="4200" marT="420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825355"/>
                  </a:ext>
                </a:extLst>
              </a:tr>
              <a:tr h="214456"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표준화의 시작</a:t>
                      </a: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kern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 v0.1 &amp; </a:t>
                      </a:r>
                      <a:r>
                        <a:rPr lang="en-US" sz="1800" kern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 Core (2024.01.08)</a:t>
                      </a:r>
                    </a:p>
                  </a:txBody>
                  <a:tcPr marL="4200" marR="4200" marT="420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164754"/>
                  </a:ext>
                </a:extLst>
              </a:tr>
              <a:tr h="214456"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3. "Tool Calling" </a:t>
                      </a:r>
                      <a:r>
                        <a:rPr lang="ko-KR" alt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표준 인터페이스 확립 </a:t>
                      </a: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(2024.02 ~ 04)</a:t>
                      </a:r>
                    </a:p>
                  </a:txBody>
                  <a:tcPr marL="4200" marR="4200" marT="420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748760"/>
                  </a:ext>
                </a:extLst>
              </a:tr>
              <a:tr h="214456"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4. </a:t>
                      </a:r>
                      <a:r>
                        <a:rPr lang="en-US" altLang="ko-KR" sz="1800" kern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 v0.2: </a:t>
                      </a:r>
                      <a:r>
                        <a:rPr lang="ko-KR" alt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도구 정의 및 </a:t>
                      </a:r>
                      <a:r>
                        <a:rPr lang="ko-KR" altLang="en-US" sz="1800" kern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아티팩트</a:t>
                      </a:r>
                      <a:r>
                        <a:rPr lang="ko-KR" alt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 강화 </a:t>
                      </a: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(2024.05.20)</a:t>
                      </a:r>
                    </a:p>
                  </a:txBody>
                  <a:tcPr marL="4200" marR="4200" marT="420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90529"/>
                  </a:ext>
                </a:extLst>
              </a:tr>
              <a:tr h="214456"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5. </a:t>
                      </a:r>
                      <a:r>
                        <a:rPr lang="en-US" sz="1800" kern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 v0.3: </a:t>
                      </a:r>
                      <a:r>
                        <a:rPr lang="en-US" sz="1800" kern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Pydantic</a:t>
                      </a:r>
                      <a:r>
                        <a:rPr 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 v2 </a:t>
                      </a:r>
                      <a:r>
                        <a:rPr lang="ko-KR" altLang="en-US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전면 도입 </a:t>
                      </a:r>
                      <a:r>
                        <a:rPr lang="en-US" altLang="ko-KR" sz="18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(2024.09.17)</a:t>
                      </a:r>
                    </a:p>
                  </a:txBody>
                  <a:tcPr marL="4200" marR="4200" marT="420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224725"/>
                  </a:ext>
                </a:extLst>
              </a:tr>
            </a:tbl>
          </a:graphicData>
        </a:graphic>
      </p:graphicFrame>
      <p:pic>
        <p:nvPicPr>
          <p:cNvPr id="3074" name="Picture 2" descr="USB-C처럼 연결되는 AI 인터페이스, MCP Server를 만들어보자">
            <a:extLst>
              <a:ext uri="{FF2B5EF4-FFF2-40B4-BE49-F238E27FC236}">
                <a16:creationId xmlns:a16="http://schemas.microsoft.com/office/drawing/2014/main" id="{9946120E-D82C-D22C-3649-75FC6D004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747713"/>
            <a:ext cx="9525000" cy="53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3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2DED91D-5875-D01B-3AF6-76CB3A34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LangGraph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588ED83-3472-8FAF-09B8-0FC12983A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b="1" dirty="0"/>
              <a:t>LangGraph</a:t>
            </a:r>
            <a:r>
              <a:rPr lang="ko-KR" altLang="en-US" sz="1800" dirty="0"/>
              <a:t>는 </a:t>
            </a:r>
            <a:r>
              <a:rPr lang="en-US" altLang="ko-KR" sz="1800" dirty="0"/>
              <a:t>LLM(Large Language Model)</a:t>
            </a:r>
            <a:r>
              <a:rPr lang="ko-KR" altLang="en-US" sz="1800" dirty="0"/>
              <a:t>을 이용해 </a:t>
            </a:r>
            <a:r>
              <a:rPr lang="ko-KR" altLang="en-US" sz="1800" b="1" dirty="0"/>
              <a:t>상태를 유지하는</a:t>
            </a:r>
            <a:r>
              <a:rPr lang="en-US" altLang="ko-KR" sz="1800" b="1" dirty="0"/>
              <a:t>(Stateful) </a:t>
            </a:r>
            <a:r>
              <a:rPr lang="ko-KR" altLang="en-US" sz="1800" b="1" dirty="0"/>
              <a:t>다중 행위자</a:t>
            </a:r>
            <a:r>
              <a:rPr lang="en-US" altLang="ko-KR" sz="1800" b="1" dirty="0"/>
              <a:t>(Multi-Actor) </a:t>
            </a:r>
            <a:r>
              <a:rPr lang="ko-KR" altLang="en-US" sz="1800" b="1" dirty="0"/>
              <a:t>애플리케이션</a:t>
            </a:r>
            <a:r>
              <a:rPr lang="ko-KR" altLang="en-US" sz="1800" dirty="0"/>
              <a:t>을 구축하기 위한 라이브러리입니다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400" dirty="0" err="1"/>
              <a:t>LangChain</a:t>
            </a:r>
            <a:r>
              <a:rPr lang="en-US" altLang="ko-KR" sz="1400" dirty="0"/>
              <a:t> </a:t>
            </a:r>
            <a:r>
              <a:rPr lang="ko-KR" altLang="en-US" sz="1400" dirty="0"/>
              <a:t>생태계의 일부로</a:t>
            </a:r>
            <a:r>
              <a:rPr lang="en-US" altLang="ko-KR" sz="1400" dirty="0"/>
              <a:t>, </a:t>
            </a:r>
            <a:r>
              <a:rPr lang="ko-KR" altLang="en-US" sz="1400" dirty="0"/>
              <a:t>복잡한 에이전트</a:t>
            </a:r>
            <a:r>
              <a:rPr lang="en-US" altLang="ko-KR" sz="1400" dirty="0"/>
              <a:t>(Agent) </a:t>
            </a:r>
            <a:r>
              <a:rPr lang="ko-KR" altLang="en-US" sz="1400" dirty="0"/>
              <a:t>워크플로우를 </a:t>
            </a:r>
            <a:r>
              <a:rPr lang="ko-KR" altLang="en-US" sz="1400" b="1" dirty="0"/>
              <a:t>그래프</a:t>
            </a:r>
            <a:r>
              <a:rPr lang="en-US" altLang="ko-KR" sz="1400" b="1" dirty="0"/>
              <a:t>(Graph)</a:t>
            </a:r>
            <a:r>
              <a:rPr lang="ko-KR" altLang="en-US" sz="1400" dirty="0"/>
              <a:t> 형태로 모델링할 수 있게 해줍니다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=&gt;REACT agent </a:t>
            </a:r>
            <a:r>
              <a:rPr lang="ko-KR" altLang="en-US" sz="1400" dirty="0"/>
              <a:t>구현 가능 </a:t>
            </a:r>
            <a:r>
              <a:rPr lang="en-US" altLang="ko-KR" sz="1400" dirty="0"/>
              <a:t>(Reasoning + Acting) </a:t>
            </a:r>
          </a:p>
          <a:p>
            <a:r>
              <a:rPr lang="ko-KR" altLang="en-US" sz="1800" b="1" dirty="0"/>
              <a:t>왜 </a:t>
            </a:r>
            <a:r>
              <a:rPr lang="en-US" altLang="ko-KR" sz="1800" b="1" dirty="0"/>
              <a:t>LangGraph</a:t>
            </a:r>
            <a:r>
              <a:rPr lang="ko-KR" altLang="en-US" sz="1800" b="1" dirty="0"/>
              <a:t>가 필요한가요</a:t>
            </a:r>
            <a:r>
              <a:rPr lang="en-US" altLang="ko-KR" sz="1800" b="1" dirty="0"/>
              <a:t>?</a:t>
            </a:r>
          </a:p>
          <a:p>
            <a:pPr lvl="1"/>
            <a:r>
              <a:rPr lang="ko-KR" altLang="en-US" sz="1400" dirty="0"/>
              <a:t>기존의 </a:t>
            </a:r>
            <a:r>
              <a:rPr lang="en-US" altLang="ko-KR" sz="1400" dirty="0" err="1"/>
              <a:t>LangChain</a:t>
            </a:r>
            <a:r>
              <a:rPr lang="en-US" altLang="ko-KR" sz="1400" dirty="0"/>
              <a:t> </a:t>
            </a:r>
            <a:r>
              <a:rPr lang="ko-KR" altLang="en-US" sz="1400" dirty="0"/>
              <a:t>체인</a:t>
            </a:r>
            <a:r>
              <a:rPr lang="en-US" altLang="ko-KR" sz="1400" dirty="0"/>
              <a:t>(Chain)</a:t>
            </a:r>
            <a:r>
              <a:rPr lang="ko-KR" altLang="en-US" sz="1400" dirty="0"/>
              <a:t>은 주로 </a:t>
            </a:r>
            <a:r>
              <a:rPr lang="en-US" altLang="ko-KR" sz="1400" b="1" dirty="0"/>
              <a:t>DAG(Directed Acyclic Graph, </a:t>
            </a:r>
            <a:r>
              <a:rPr lang="ko-KR" altLang="en-US" sz="1400" b="1" dirty="0"/>
              <a:t>순환 없는 방향 그래프</a:t>
            </a:r>
            <a:r>
              <a:rPr lang="en-US" altLang="ko-KR" sz="1400" b="1" dirty="0"/>
              <a:t>)</a:t>
            </a:r>
            <a:r>
              <a:rPr lang="ko-KR" altLang="en-US" sz="1400" dirty="0"/>
              <a:t> 구조였습니다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dirty="0"/>
              <a:t>데이터가 한 방향으로만 흐르고</a:t>
            </a:r>
            <a:r>
              <a:rPr lang="en-US" altLang="ko-KR" sz="1400" dirty="0"/>
              <a:t>, </a:t>
            </a:r>
            <a:r>
              <a:rPr lang="ko-KR" altLang="en-US" sz="1400" dirty="0"/>
              <a:t>이전 단계로 되돌아가는 루프</a:t>
            </a:r>
            <a:r>
              <a:rPr lang="en-US" altLang="ko-KR" sz="1400" dirty="0"/>
              <a:t>(Loop)</a:t>
            </a:r>
            <a:r>
              <a:rPr lang="ko-KR" altLang="en-US" sz="1400" dirty="0"/>
              <a:t>를 구현하기 어려웠습니다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하지만 실제 에이전트는 다음과 같은 동작이 필요합니다</a:t>
            </a:r>
            <a:r>
              <a:rPr lang="en-US" altLang="ko-KR" sz="1400" dirty="0"/>
              <a:t>:</a:t>
            </a:r>
          </a:p>
          <a:p>
            <a:pPr lvl="1"/>
            <a:r>
              <a:rPr lang="ko-KR" altLang="en-US" sz="1400" dirty="0"/>
              <a:t>결과가 만족스럽지 않으면 </a:t>
            </a:r>
            <a:r>
              <a:rPr lang="ko-KR" altLang="en-US" sz="1400" b="1" dirty="0"/>
              <a:t>다시 생각하기</a:t>
            </a:r>
            <a:r>
              <a:rPr lang="ko-KR" altLang="en-US" sz="1400" dirty="0"/>
              <a:t> </a:t>
            </a:r>
            <a:r>
              <a:rPr lang="en-US" altLang="ko-KR" sz="1400" dirty="0"/>
              <a:t>(Loop)</a:t>
            </a:r>
          </a:p>
          <a:p>
            <a:pPr lvl="1"/>
            <a:r>
              <a:rPr lang="ko-KR" altLang="en-US" sz="1400" dirty="0"/>
              <a:t>여러 작업을 </a:t>
            </a:r>
            <a:r>
              <a:rPr lang="ko-KR" altLang="en-US" sz="1400" b="1" dirty="0"/>
              <a:t>병렬로 수행하고 합치기</a:t>
            </a:r>
            <a:r>
              <a:rPr lang="ko-KR" altLang="en-US" sz="1400" dirty="0"/>
              <a:t> </a:t>
            </a:r>
            <a:r>
              <a:rPr lang="en-US" altLang="ko-KR" sz="1400" dirty="0"/>
              <a:t>(Parallel execution &amp; Merge)</a:t>
            </a:r>
          </a:p>
          <a:p>
            <a:pPr lvl="1"/>
            <a:r>
              <a:rPr lang="ko-KR" altLang="en-US" sz="1400" dirty="0"/>
              <a:t>상황에 따라 </a:t>
            </a:r>
            <a:r>
              <a:rPr lang="ko-KR" altLang="en-US" sz="1400" b="1" dirty="0"/>
              <a:t>다른 경로 선택하기</a:t>
            </a:r>
            <a:r>
              <a:rPr lang="ko-KR" altLang="en-US" sz="1400" dirty="0"/>
              <a:t> </a:t>
            </a:r>
            <a:r>
              <a:rPr lang="en-US" altLang="ko-KR" sz="1400" dirty="0"/>
              <a:t>(Conditional Branching)</a:t>
            </a:r>
          </a:p>
          <a:p>
            <a:pPr lvl="1"/>
            <a:r>
              <a:rPr lang="ko-KR" altLang="en-US" sz="1400" dirty="0"/>
              <a:t>대화의 </a:t>
            </a:r>
            <a:r>
              <a:rPr lang="ko-KR" altLang="en-US" sz="1400" b="1" dirty="0"/>
              <a:t>맥락</a:t>
            </a:r>
            <a:r>
              <a:rPr lang="en-US" altLang="ko-KR" sz="1400" b="1" dirty="0"/>
              <a:t>(Context) </a:t>
            </a:r>
            <a:r>
              <a:rPr lang="ko-KR" altLang="en-US" sz="1400" b="1" dirty="0"/>
              <a:t>유지하기</a:t>
            </a:r>
            <a:r>
              <a:rPr lang="ko-KR" altLang="en-US" sz="1400" dirty="0"/>
              <a:t> </a:t>
            </a:r>
            <a:r>
              <a:rPr lang="en-US" altLang="ko-KR" sz="1400" dirty="0"/>
              <a:t>(State persistence)</a:t>
            </a:r>
          </a:p>
          <a:p>
            <a:pPr lvl="1"/>
            <a:r>
              <a:rPr lang="en-US" altLang="ko-KR" sz="1400" dirty="0"/>
              <a:t>LangGraph</a:t>
            </a:r>
            <a:r>
              <a:rPr lang="ko-KR" altLang="en-US" sz="1400" dirty="0"/>
              <a:t>는 이러한 요구사항을 해결하기 위해 등장했습니다</a:t>
            </a:r>
            <a:r>
              <a:rPr lang="en-US" altLang="ko-KR" sz="1400" dirty="0"/>
              <a:t>.</a:t>
            </a:r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9021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26E69-6322-3CCF-B2CD-D1C32D738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LangChain</a:t>
            </a:r>
            <a:r>
              <a:rPr lang="en-US" altLang="ko-KR" dirty="0"/>
              <a:t> vs LangGraph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870F8B-7737-C7FD-B47A-14A3BBD19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10" y="1882556"/>
            <a:ext cx="5643680" cy="74196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4923BA3-97E1-5BB9-83A7-CF3447366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10" y="3355429"/>
            <a:ext cx="5643680" cy="212434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796BED1-7C0F-9330-3B20-867E1C04B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7" y="1871475"/>
            <a:ext cx="5024821" cy="36083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6164EFB-FB91-3791-DBDE-3484539CB6E8}"/>
              </a:ext>
            </a:extLst>
          </p:cNvPr>
          <p:cNvSpPr txBox="1"/>
          <p:nvPr/>
        </p:nvSpPr>
        <p:spPr>
          <a:xfrm>
            <a:off x="1040524" y="1502143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LangChain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7B4863-EACC-B763-D3F4-ECDAADB34979}"/>
              </a:ext>
            </a:extLst>
          </p:cNvPr>
          <p:cNvSpPr txBox="1"/>
          <p:nvPr/>
        </p:nvSpPr>
        <p:spPr>
          <a:xfrm>
            <a:off x="1040524" y="2827706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LangGraph </a:t>
            </a:r>
            <a:r>
              <a:rPr lang="ko-KR" altLang="en-US" dirty="0"/>
              <a:t>구조</a:t>
            </a:r>
          </a:p>
        </p:txBody>
      </p:sp>
    </p:spTree>
    <p:extLst>
      <p:ext uri="{BB962C8B-B14F-4D97-AF65-F5344CB8AC3E}">
        <p14:creationId xmlns:p14="http://schemas.microsoft.com/office/powerpoint/2010/main" val="3666915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167F9-1755-B872-64DC-CE00CFE6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컴포넌트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81C930-3A99-49BE-CD47-68FEEDB81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55415"/>
          </a:xfrm>
        </p:spPr>
        <p:txBody>
          <a:bodyPr/>
          <a:lstStyle/>
          <a:p>
            <a:r>
              <a:rPr lang="ko-KR" altLang="en-US" sz="1400" b="1" dirty="0"/>
              <a:t>그래프</a:t>
            </a:r>
            <a:r>
              <a:rPr lang="en-US" altLang="ko-KR" sz="1400" b="1" dirty="0"/>
              <a:t>(Graph) - </a:t>
            </a:r>
            <a:r>
              <a:rPr lang="ko-KR" altLang="en-US" sz="1400" b="1" dirty="0"/>
              <a:t>전체 설계도</a:t>
            </a:r>
          </a:p>
          <a:p>
            <a:pPr lvl="1"/>
            <a:r>
              <a:rPr lang="ko-KR" altLang="en-US" sz="1200" b="1" dirty="0"/>
              <a:t>그래프</a:t>
            </a:r>
            <a:r>
              <a:rPr lang="ko-KR" altLang="en-US" sz="1200" dirty="0"/>
              <a:t>는 전체 워크플로우의 </a:t>
            </a:r>
            <a:r>
              <a:rPr lang="en-US" altLang="ko-KR" sz="1200" dirty="0"/>
              <a:t>"</a:t>
            </a:r>
            <a:r>
              <a:rPr lang="ko-KR" altLang="en-US" sz="1200" dirty="0"/>
              <a:t>지도</a:t>
            </a:r>
            <a:r>
              <a:rPr lang="en-US" altLang="ko-KR" sz="1200" dirty="0"/>
              <a:t>"</a:t>
            </a:r>
            <a:r>
              <a:rPr lang="ko-KR" altLang="en-US" sz="1200" dirty="0"/>
              <a:t>입니다</a:t>
            </a:r>
            <a:r>
              <a:rPr lang="en-US" altLang="ko-KR" sz="1200" dirty="0"/>
              <a:t>. </a:t>
            </a:r>
            <a:r>
              <a:rPr lang="ko-KR" altLang="en-US" sz="1200" dirty="0"/>
              <a:t>어떤 작업들이 있고</a:t>
            </a:r>
            <a:r>
              <a:rPr lang="en-US" altLang="ko-KR" sz="1200" dirty="0"/>
              <a:t>, </a:t>
            </a:r>
            <a:r>
              <a:rPr lang="ko-KR" altLang="en-US" sz="1200" dirty="0"/>
              <a:t>어떻게 연결되는지를 정의합니다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b="1" dirty="0"/>
              <a:t>비유</a:t>
            </a:r>
            <a:r>
              <a:rPr lang="en-US" altLang="ko-KR" sz="1200" dirty="0"/>
              <a:t>: </a:t>
            </a:r>
            <a:r>
              <a:rPr lang="ko-KR" altLang="en-US" sz="1200" dirty="0"/>
              <a:t>그래프는 </a:t>
            </a:r>
            <a:r>
              <a:rPr lang="ko-KR" altLang="en-US" sz="1200" b="1" dirty="0"/>
              <a:t>건물 설계도</a:t>
            </a:r>
            <a:r>
              <a:rPr lang="ko-KR" altLang="en-US" sz="1200" dirty="0"/>
              <a:t>와 같습니다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어떤 방</a:t>
            </a:r>
            <a:r>
              <a:rPr lang="en-US" altLang="ko-KR" sz="1200" dirty="0"/>
              <a:t>(</a:t>
            </a:r>
            <a:r>
              <a:rPr lang="ko-KR" altLang="en-US" sz="1200" dirty="0"/>
              <a:t>노드</a:t>
            </a:r>
            <a:r>
              <a:rPr lang="en-US" altLang="ko-KR" sz="1200" dirty="0"/>
              <a:t>)</a:t>
            </a:r>
            <a:r>
              <a:rPr lang="ko-KR" altLang="en-US" sz="1200" dirty="0"/>
              <a:t>들이 있고</a:t>
            </a:r>
            <a:r>
              <a:rPr lang="en-US" altLang="ko-KR" sz="1200" dirty="0"/>
              <a:t>, </a:t>
            </a:r>
            <a:r>
              <a:rPr lang="ko-KR" altLang="en-US" sz="1200" dirty="0"/>
              <a:t>복도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엣지</a:t>
            </a:r>
            <a:r>
              <a:rPr lang="en-US" altLang="ko-KR" sz="1200" dirty="0"/>
              <a:t>)</a:t>
            </a:r>
            <a:r>
              <a:rPr lang="ko-KR" altLang="en-US" sz="1200" dirty="0"/>
              <a:t>로 어떻게 연결되는지 그립니다</a:t>
            </a:r>
          </a:p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8F2D0B8-DAC9-F175-A9D3-83DC1AD7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448" y="2545006"/>
            <a:ext cx="3385010" cy="795433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BC43A64-1B03-773B-679E-285ACC1A84A3}"/>
              </a:ext>
            </a:extLst>
          </p:cNvPr>
          <p:cNvSpPr txBox="1">
            <a:spLocks/>
          </p:cNvSpPr>
          <p:nvPr/>
        </p:nvSpPr>
        <p:spPr>
          <a:xfrm>
            <a:off x="838200" y="3340440"/>
            <a:ext cx="10515600" cy="542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/>
              <a:t>상태</a:t>
            </a:r>
            <a:r>
              <a:rPr lang="en-US" altLang="ko-KR" sz="1400" b="1" dirty="0"/>
              <a:t>(State) - </a:t>
            </a:r>
            <a:r>
              <a:rPr lang="ko-KR" altLang="en-US" sz="1400" b="1" dirty="0"/>
              <a:t>공유 메모리</a:t>
            </a:r>
          </a:p>
          <a:p>
            <a:pPr lvl="1"/>
            <a:r>
              <a:rPr lang="ko-KR" altLang="en-US" sz="1200" b="1" dirty="0"/>
              <a:t>상태</a:t>
            </a:r>
            <a:r>
              <a:rPr lang="ko-KR" altLang="en-US" sz="1200" dirty="0"/>
              <a:t>는 그래프의 모든 노드가 함께 사용하는 </a:t>
            </a:r>
            <a:r>
              <a:rPr lang="en-US" altLang="ko-KR" sz="1200" dirty="0"/>
              <a:t>"</a:t>
            </a:r>
            <a:r>
              <a:rPr lang="ko-KR" altLang="en-US" sz="1200" dirty="0"/>
              <a:t>공유 메모리</a:t>
            </a:r>
            <a:r>
              <a:rPr lang="en-US" altLang="ko-KR" sz="1200" dirty="0"/>
              <a:t>"</a:t>
            </a:r>
            <a:r>
              <a:rPr lang="ko-KR" altLang="en-US" sz="1200" dirty="0"/>
              <a:t>입니다</a:t>
            </a:r>
            <a:r>
              <a:rPr lang="en-US" altLang="ko-KR" sz="1200" dirty="0"/>
              <a:t>.</a:t>
            </a:r>
          </a:p>
          <a:p>
            <a:endParaRPr lang="ko-KR" altLang="en-US" sz="16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ADD3B89-28F1-3894-151E-F258263B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48" y="3929478"/>
            <a:ext cx="3584139" cy="18516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A882487-B5EE-B147-C221-F50C3AC3C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275" y="3929478"/>
            <a:ext cx="6392131" cy="185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13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CA0F1-4FCA-6410-40F0-35CBE68B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91FF9-3573-FED7-12B0-A69293BE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컴포넌트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33276F-FC94-17B7-95E8-88A5D9EE1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41134"/>
            <a:ext cx="5395936" cy="1314630"/>
          </a:xfrm>
        </p:spPr>
        <p:txBody>
          <a:bodyPr>
            <a:normAutofit/>
          </a:bodyPr>
          <a:lstStyle/>
          <a:p>
            <a:r>
              <a:rPr lang="ko-KR" altLang="en-US" sz="1400" b="1" dirty="0" err="1"/>
              <a:t>엣지</a:t>
            </a:r>
            <a:r>
              <a:rPr lang="en-US" altLang="ko-KR" sz="1400" b="1" dirty="0"/>
              <a:t>(Edge) - </a:t>
            </a:r>
            <a:r>
              <a:rPr lang="ko-KR" altLang="en-US" sz="1400" b="1" dirty="0"/>
              <a:t>연결 통로</a:t>
            </a:r>
          </a:p>
          <a:p>
            <a:pPr lvl="1"/>
            <a:r>
              <a:rPr lang="ko-KR" altLang="en-US" sz="1100" b="1" dirty="0" err="1"/>
              <a:t>엣지</a:t>
            </a:r>
            <a:r>
              <a:rPr lang="ko-KR" altLang="en-US" sz="1100" dirty="0" err="1"/>
              <a:t>는</a:t>
            </a:r>
            <a:r>
              <a:rPr lang="ko-KR" altLang="en-US" sz="1100" dirty="0"/>
              <a:t> 노드와 노드를 연결하는 </a:t>
            </a:r>
            <a:r>
              <a:rPr lang="en-US" altLang="ko-KR" sz="1100" dirty="0"/>
              <a:t>"</a:t>
            </a:r>
            <a:r>
              <a:rPr lang="ko-KR" altLang="en-US" sz="1100" dirty="0"/>
              <a:t>통로</a:t>
            </a:r>
            <a:r>
              <a:rPr lang="en-US" altLang="ko-KR" sz="1100" dirty="0"/>
              <a:t>"</a:t>
            </a:r>
            <a:r>
              <a:rPr lang="ko-KR" altLang="en-US" sz="1100" dirty="0"/>
              <a:t>입니다</a:t>
            </a:r>
            <a:r>
              <a:rPr lang="en-US" altLang="ko-KR" sz="1100" dirty="0"/>
              <a:t>. </a:t>
            </a:r>
          </a:p>
          <a:p>
            <a:pPr lvl="1"/>
            <a:r>
              <a:rPr lang="ko-KR" altLang="en-US" sz="1100" b="1" dirty="0"/>
              <a:t>비유</a:t>
            </a:r>
            <a:r>
              <a:rPr lang="en-US" altLang="ko-KR" sz="1100" dirty="0"/>
              <a:t>:</a:t>
            </a:r>
          </a:p>
          <a:p>
            <a:pPr lvl="2"/>
            <a:r>
              <a:rPr lang="ko-KR" altLang="en-US" sz="1100" dirty="0"/>
              <a:t>일반 </a:t>
            </a:r>
            <a:r>
              <a:rPr lang="ko-KR" altLang="en-US" sz="1100" dirty="0" err="1"/>
              <a:t>엣지는</a:t>
            </a:r>
            <a:r>
              <a:rPr lang="ko-KR" altLang="en-US" sz="1100" dirty="0"/>
              <a:t> </a:t>
            </a:r>
            <a:r>
              <a:rPr lang="ko-KR" altLang="en-US" sz="1100" b="1" dirty="0"/>
              <a:t>일방통행 도로</a:t>
            </a:r>
            <a:r>
              <a:rPr lang="ko-KR" altLang="en-US" sz="1100" dirty="0"/>
              <a:t> </a:t>
            </a:r>
            <a:r>
              <a:rPr lang="en-US" altLang="ko-KR" sz="1100" dirty="0"/>
              <a:t>- </a:t>
            </a:r>
            <a:r>
              <a:rPr lang="ko-KR" altLang="en-US" sz="1100" dirty="0"/>
              <a:t>무조건 다음 장소로 이동</a:t>
            </a:r>
          </a:p>
          <a:p>
            <a:pPr lvl="2"/>
            <a:r>
              <a:rPr lang="ko-KR" altLang="en-US" sz="1100" dirty="0"/>
              <a:t>조건부 </a:t>
            </a:r>
            <a:r>
              <a:rPr lang="ko-KR" altLang="en-US" sz="1100" dirty="0" err="1"/>
              <a:t>엣지는</a:t>
            </a:r>
            <a:r>
              <a:rPr lang="ko-KR" altLang="en-US" sz="1100" dirty="0"/>
              <a:t> </a:t>
            </a:r>
            <a:r>
              <a:rPr lang="ko-KR" altLang="en-US" sz="1100" b="1" dirty="0"/>
              <a:t>교차로</a:t>
            </a:r>
            <a:r>
              <a:rPr lang="ko-KR" altLang="en-US" sz="1100" dirty="0"/>
              <a:t> </a:t>
            </a:r>
            <a:r>
              <a:rPr lang="en-US" altLang="ko-KR" sz="1100" dirty="0"/>
              <a:t>- </a:t>
            </a:r>
            <a:r>
              <a:rPr lang="ko-KR" altLang="en-US" sz="1100" dirty="0"/>
              <a:t>표지판을 보고 방향 선택</a:t>
            </a:r>
            <a:br>
              <a:rPr lang="ko-KR" altLang="en-US" sz="1100" dirty="0"/>
            </a:br>
            <a:endParaRPr lang="en-US" altLang="ko-KR" sz="1100" dirty="0"/>
          </a:p>
          <a:p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D82181D-AFEB-68D0-A45B-C9F658B8B66C}"/>
              </a:ext>
            </a:extLst>
          </p:cNvPr>
          <p:cNvSpPr txBox="1">
            <a:spLocks/>
          </p:cNvSpPr>
          <p:nvPr/>
        </p:nvSpPr>
        <p:spPr>
          <a:xfrm>
            <a:off x="838200" y="1561452"/>
            <a:ext cx="10515600" cy="7554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500" b="1" dirty="0"/>
              <a:t>노드</a:t>
            </a:r>
            <a:r>
              <a:rPr lang="en-US" altLang="ko-KR" sz="1500" b="1" dirty="0"/>
              <a:t>(Node) - </a:t>
            </a:r>
            <a:r>
              <a:rPr lang="ko-KR" altLang="en-US" sz="1500" b="1" dirty="0"/>
              <a:t>작업 단위</a:t>
            </a:r>
          </a:p>
          <a:p>
            <a:pPr lvl="1">
              <a:lnSpc>
                <a:spcPct val="100000"/>
              </a:lnSpc>
            </a:pPr>
            <a:r>
              <a:rPr lang="ko-KR" altLang="en-US" sz="1300" b="1" dirty="0"/>
              <a:t>노드</a:t>
            </a:r>
            <a:r>
              <a:rPr lang="ko-KR" altLang="en-US" sz="1300" dirty="0"/>
              <a:t>는 실제로 무언가를 수행하는 </a:t>
            </a:r>
            <a:r>
              <a:rPr lang="en-US" altLang="ko-KR" sz="1300" dirty="0"/>
              <a:t>"</a:t>
            </a:r>
            <a:r>
              <a:rPr lang="ko-KR" altLang="en-US" sz="1300" dirty="0"/>
              <a:t>작업 단위</a:t>
            </a:r>
            <a:r>
              <a:rPr lang="en-US" altLang="ko-KR" sz="1300" dirty="0"/>
              <a:t>"</a:t>
            </a:r>
            <a:r>
              <a:rPr lang="ko-KR" altLang="en-US" sz="1300" dirty="0"/>
              <a:t>입니다</a:t>
            </a:r>
            <a:r>
              <a:rPr lang="en-US" altLang="ko-KR" sz="1300" dirty="0"/>
              <a:t>. Python </a:t>
            </a:r>
            <a:r>
              <a:rPr lang="ko-KR" altLang="en-US" sz="1300" dirty="0"/>
              <a:t>함수 하나가 노드 하나가 됩니다</a:t>
            </a:r>
            <a:r>
              <a:rPr lang="en-US" altLang="ko-KR" sz="13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300" dirty="0"/>
              <a:t>비유</a:t>
            </a:r>
            <a:r>
              <a:rPr lang="en-US" altLang="ko-KR" sz="1300" dirty="0"/>
              <a:t>: </a:t>
            </a:r>
            <a:r>
              <a:rPr lang="ko-KR" altLang="en-US" sz="1300" dirty="0"/>
              <a:t>노드는 </a:t>
            </a:r>
            <a:r>
              <a:rPr lang="ko-KR" altLang="en-US" sz="1300" b="1" dirty="0"/>
              <a:t>공장의 작업자</a:t>
            </a:r>
            <a:r>
              <a:rPr lang="ko-KR" altLang="en-US" sz="1300" dirty="0"/>
              <a:t>입니다</a:t>
            </a:r>
            <a:r>
              <a:rPr lang="en-US" altLang="ko-KR" sz="1300" dirty="0"/>
              <a:t>. </a:t>
            </a:r>
            <a:r>
              <a:rPr lang="ko-KR" altLang="en-US" sz="1300" dirty="0"/>
              <a:t>각자 맡은 일을 수행하고</a:t>
            </a:r>
            <a:r>
              <a:rPr lang="en-US" altLang="ko-KR" sz="1300" dirty="0"/>
              <a:t>, </a:t>
            </a:r>
            <a:r>
              <a:rPr lang="ko-KR" altLang="en-US" sz="1300" dirty="0"/>
              <a:t>결과를 다음 사람에게 넘깁니다</a:t>
            </a:r>
            <a:r>
              <a:rPr lang="en-US" altLang="ko-KR" sz="1300" dirty="0"/>
              <a:t>.</a:t>
            </a:r>
          </a:p>
          <a:p>
            <a:endParaRPr lang="ko-KR" alt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DCC0E41-CD12-7114-61F9-52CC342BE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803" y="2361647"/>
            <a:ext cx="3559404" cy="19897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7EE4F4F-1471-3FE0-8F6F-76BD5EFEF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286" y="4541134"/>
            <a:ext cx="4515479" cy="166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178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1C4C4-DEF1-3EDD-4FDB-5A7A4CF3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React</a:t>
            </a:r>
            <a:r>
              <a:rPr lang="ko-KR" altLang="en-US" b="1" dirty="0"/>
              <a:t> </a:t>
            </a:r>
            <a:r>
              <a:rPr lang="en-US" altLang="ko-KR" b="1" dirty="0"/>
              <a:t>Agent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A758B5-9B42-3E63-10E6-13AAF9BFC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목표</a:t>
            </a:r>
            <a:r>
              <a:rPr lang="en-US" altLang="ko-KR" dirty="0"/>
              <a:t>: LLM + </a:t>
            </a:r>
            <a:r>
              <a:rPr lang="ko-KR" altLang="en-US" dirty="0"/>
              <a:t>도구</a:t>
            </a:r>
            <a:r>
              <a:rPr lang="en-US" altLang="ko-KR" dirty="0"/>
              <a:t>(Tool) + </a:t>
            </a:r>
            <a:r>
              <a:rPr lang="ko-KR" altLang="en-US" dirty="0"/>
              <a:t>루프를 활용한 완전한 </a:t>
            </a:r>
            <a:r>
              <a:rPr lang="en-US" altLang="ko-KR" dirty="0"/>
              <a:t>Agent </a:t>
            </a:r>
            <a:r>
              <a:rPr lang="ko-KR" altLang="en-US" dirty="0"/>
              <a:t>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5969AE-8C50-AB5F-7AB6-4B6CF7D65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257" y="2454014"/>
            <a:ext cx="2337634" cy="390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18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862</Words>
  <Application>Microsoft Office PowerPoint</Application>
  <PresentationFormat>와이드스크린</PresentationFormat>
  <Paragraphs>115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Google Sans Text</vt:lpstr>
      <vt:lpstr>맑은 고딕</vt:lpstr>
      <vt:lpstr>Arial</vt:lpstr>
      <vt:lpstr>Office 테마</vt:lpstr>
      <vt:lpstr>AI와 LangChain과 LangGraph와 Agent</vt:lpstr>
      <vt:lpstr>AI를 하려면? </vt:lpstr>
      <vt:lpstr>AI 에이전트의 연도별 진화 (GPT-3 이후)</vt:lpstr>
      <vt:lpstr>LangChain</vt:lpstr>
      <vt:lpstr>핵심 컴포넌트</vt:lpstr>
      <vt:lpstr>초기 Langchain</vt:lpstr>
      <vt:lpstr>왜 이제 LangChain, Langgraph?</vt:lpstr>
      <vt:lpstr>LangGraph</vt:lpstr>
      <vt:lpstr>LangChain vs LangGraph</vt:lpstr>
      <vt:lpstr>핵심 컴포넌트</vt:lpstr>
      <vt:lpstr>핵심 컴포넌트</vt:lpstr>
      <vt:lpstr>React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hyunkyu moon</dc:creator>
  <cp:lastModifiedBy>hyunkyu moon</cp:lastModifiedBy>
  <cp:revision>2</cp:revision>
  <dcterms:created xsi:type="dcterms:W3CDTF">2026-02-03T10:51:45Z</dcterms:created>
  <dcterms:modified xsi:type="dcterms:W3CDTF">2026-02-03T12:31:02Z</dcterms:modified>
</cp:coreProperties>
</file>